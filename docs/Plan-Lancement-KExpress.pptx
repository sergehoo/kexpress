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3C4454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1887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3551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K-EXPRESS · KAYDAN GROUPE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lancement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intelligent, taux d'occupation et gestion de l'énergie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semaines</a:t>
            </a:r>
            <a:pPr indent="0" marL="0">
              <a:buNone/>
            </a:pPr>
            <a:r>
              <a:rPr lang="en-US" sz="16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présentation, formation et accompagnement de toutes les populations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· Équipe dispatch · Administrateurs · Utilisateurs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concrètement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568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04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dispatching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75234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console : courses à affecter, matrice par zones, tournées multi-arrêts, aller et retour affectés séparément.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600200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379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568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04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&amp; décision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275234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propose des regroupements chiffrés (km, détour, économie). Rien ne s'applique sans validation humaine — chaque décision est journalisée.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74736" y="1600200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8379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5681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404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30768" y="275234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demandes récurrentes (navettes, tournées hebdomadaires) sont détectées et signalées avant que la réservation ne tombe.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41648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9826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l'énergie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193792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Carburants et électricité côte à côte : pleins, recharges, prix. Les litres et les kWh ne sont jamais confondus.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61688" y="4041648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793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9826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&amp; occupation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7720" y="5193792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au passager-kilomètre, taux d'occupation, kilomètres à vide : les indicateurs qui permettent d'arbitrer juste.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74736" y="4041648"/>
            <a:ext cx="3639312" cy="2212848"/>
          </a:xfrm>
          <a:prstGeom prst="roundRect">
            <a:avLst>
              <a:gd name="adj" fmla="val 371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AAB0BC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2793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39826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0768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K-BOT &amp; alertes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30768" y="5193792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immédiates aux questions d'exploitation et alertes ciblées : surconsommation, sous-utilisation, échéances.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DU CHANGEMENT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messages à faire passer partout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4206240"/>
          </a:xfrm>
          <a:prstGeom prst="roundRect">
            <a:avLst>
              <a:gd name="adj" fmla="val 2261"/>
            </a:avLst>
          </a:prstGeom>
          <a:solidFill>
            <a:srgbClr val="20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8483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22322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propose,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décide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84048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affectation, aucun regroupement ne s'exécute seul. Le dispatcher garde la main et chaque décision est tracée. À répéter en formation : la solution assiste, elle ne remplace pas.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639312" cy="4206240"/>
          </a:xfrm>
          <a:prstGeom prst="roundRect">
            <a:avLst>
              <a:gd name="adj" fmla="val 2261"/>
            </a:avLst>
          </a:prstGeom>
          <a:solidFill>
            <a:srgbClr val="F4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208483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97" y="22322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commune,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filiale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54296" y="384048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véhicules et chauffeurs sont mutualisés : chacun voit la flotte entière pour mieux partager. Mais les coûts, dépenses et dossiers RH restent le périmètre de chaque filiale.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737360"/>
            <a:ext cx="3639312" cy="4206240"/>
          </a:xfrm>
          <a:prstGeom prst="roundRect">
            <a:avLst>
              <a:gd name="adj" fmla="val 2261"/>
            </a:avLst>
          </a:prstGeom>
          <a:solidFill>
            <a:srgbClr val="F4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67344" y="208483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745" y="22322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litres et des kWh,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un total unique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67344" y="384048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Thermique et électrique se comparent par le coût au passager-kilomètre — pas en additionnant des unités incompatibles. C'est la clé de lecture du module Énergie.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semaines, du déploiement au bilan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3C44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Préparer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J1–J5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926080"/>
            <a:ext cx="2587752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technique, données, comptes et rôles, kickoff des sponsors et des référents.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Présenter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38728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J6–J10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0712" y="2926080"/>
            <a:ext cx="2587752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Plénière de présentation, formation des référents, pilote grandeur nature avec l'équipe dispatch.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Former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5936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J11–J15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587752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 toutes les populations : chauffeurs, dispatch, administrateurs, utilisateurs.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18288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3C4454"/>
          </a:solidFill>
          <a:ln/>
        </p:spPr>
      </p:sp>
      <p:sp>
        <p:nvSpPr>
          <p:cNvPr id="17" name="Text 15"/>
          <p:cNvSpPr/>
          <p:nvPr/>
        </p:nvSpPr>
        <p:spPr>
          <a:xfrm>
            <a:off x="9153144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Consolider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53144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J16–J20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25128" y="2926080"/>
            <a:ext cx="2587752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au poste, permanences, mesure des premiers indicateurs, bilan de lancement.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47472" cy="347472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4708063"/>
            <a:ext cx="166787" cy="16678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24128" y="46314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mise en production (pré-scan des chevauchements puis migrations)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093208"/>
            <a:ext cx="347472" cy="347472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3" y="5183551"/>
            <a:ext cx="166787" cy="16678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24128" y="510692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 — plénière de lancement, toutes populations (1 h)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48640" y="5568696"/>
            <a:ext cx="347472" cy="347472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3" y="5659039"/>
            <a:ext cx="166787" cy="1667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24128" y="55824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J15 — 100 % des populations formées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48640" y="6044184"/>
            <a:ext cx="347472" cy="347472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" y="6134527"/>
            <a:ext cx="166787" cy="16678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24128" y="605790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J20 — bilan de lancement et passage en régime nominal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 · J1–J5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: la technique ET l'organisation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385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574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751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données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Pré-scan des chevauchements (check_dispatch_overlaps) puis migrations en production — le pré-scan est le seul feu rouge légitime.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zones opérationnelles par filiale (base du dispatching par zones).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prix carburant et du tarif kWh ; seuils d'alertes par défaut.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et rôles : chauffeurs, dispatchers, administrateurs, financiers — le rôle détermine ce que chacun voit.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accès depuis les téléphones des chauffeurs (PWA).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385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574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751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communication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sponsors : directions de filiales alignées sur les objectifs et le calendrier.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d'un référent par filiale — premier niveau de support après le lancement.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interne : ce qui change, pour qui, à partir de quand.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supports de formation par population (guides pas-à-pas, cas pratiques).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sessions de formation S2–S3 avec les managers.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 · J6–J10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Présenter, former les relais, piloter en réel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3911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216987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 — Plénière de lancement (1 h, toutes populations)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 : une réservation aller-retour, son affectation, une tournée regroupée, le tableau énergie. Les trois messages clés.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19272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357530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" y="370606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5021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 — Formation des référents (une demi-journée)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886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référents de filiale pratiquent tous les parcours. Ils animeront ensuite les sessions locales et assureront le premier niveau de support.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55464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5111496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524225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503834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J8–J10 — Pilote avec l'équipe dispatch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54223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jours d'exploitation réelle encadrée : affectations, suggestions, tournées. Les frictions relevées alimentent les formations de la semaine 3.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· J11–J15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toutes les populations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42232"/>
                <a:gridCol w="1005840"/>
                <a:gridCol w="118872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Chauffeurs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Présentiel par filiale, groupes de 8–10, pratique sur téléphone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J11–J13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 filiale + formateur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 dispatch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Ateliers sur cas réels (suite du pilote S2)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J11–J12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 paramétrage, rapports et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J13–J14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 +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 (demandeurs, managers)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 courte, plusieurs créneaux + guide pas-à-pas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J14–J15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Référents filiale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n'utilise l'outil sans avoir été formé, personne n'est formé sans pratiquer sur un cas réel de sa filiale. Les absents ont une session de rattrapage en S4.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FORMATION 1/4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024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30 · présentiel · groupes de 8–10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0" y="411480"/>
            <a:ext cx="1554480" cy="155448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795528"/>
            <a:ext cx="786384" cy="7863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48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EE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autonome sur sa journée : consulter ses courses, démarrer et clôturer, relever les compteurs, déclarer l'énergie.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767328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l'application sur son téléphone (PWA), retrouver ses courses du jour.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et retour : démarrer la course, saisir le kilométrage, clôturer.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un plein (litres, montant, station) ou une recharge (kWh) avec justificatif photo.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un incident ou une indisponibilité.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3246120"/>
            <a:ext cx="4005072" cy="3108960"/>
          </a:xfrm>
          <a:prstGeom prst="roundRect">
            <a:avLst>
              <a:gd name="adj" fmla="val 2647"/>
            </a:avLst>
          </a:prstGeom>
          <a:solidFill>
            <a:srgbClr val="2024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MOYENS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09560" y="376732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guidée sur le téléphone de chacun, avec des courses d'exercice. Aide-mémoire d'une page remis en fin de session. Sessions par filiale, animées par le référent local.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FORMATION 2/4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dispatch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024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ateliers de 2 h · sur cas réels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0" y="411480"/>
            <a:ext cx="1554480" cy="155448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795528"/>
            <a:ext cx="786384" cy="7863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48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EE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 centre de dispatching de bout en bout et adopter le réflexe « regarder les suggestions avant d'affecter ».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767328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vues de la console : à affecter, matrice par zones, tournées, suggestions, potentiel, anticipation.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Affecter l'aller et le retour séparément ; libérer proprement une affectation.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une tournée multi-arrêts ; comprendre capacité et détour maximum.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une suggestion : accepter, ajuster ou refuser — et pourquoi chaque décision est journalisée.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l'anticipation pour préparer la semaine ; lire le potentiel de mutualisation.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3246120"/>
            <a:ext cx="4005072" cy="3108960"/>
          </a:xfrm>
          <a:prstGeom prst="roundRect">
            <a:avLst>
              <a:gd name="adj" fmla="val 2647"/>
            </a:avLst>
          </a:prstGeom>
          <a:solidFill>
            <a:srgbClr val="2024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MOYENS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09560" y="376732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sur les données réelles de la filiale, dans la continuité du pilote de la semaine 2. Un binôme d'accompagnement reste en place toute la semaine 4.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FORMATION 3/4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024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ateliers de 2 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0" y="411480"/>
            <a:ext cx="1554480" cy="155448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795528"/>
            <a:ext cx="786384" cy="7863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48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EE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Paramétrer, surveiller et rendre compte : l'administrateur est garant de la donnée et des règles de sa filiale.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767328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Comptes, rôles et périmètres : qui voit quoi — flotte commune, données de filiale.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opérationnelles, seuils d'alertes, prix carburant et tarif kWh.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: occupation, kilomètres à vide, efficacité au passager-km, imputations énergie.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et exports ; journal d'audit des décisions de dispatching.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dossiers véhicules (assurances, visites) et chauffeurs.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3246120"/>
            <a:ext cx="4005072" cy="3108960"/>
          </a:xfrm>
          <a:prstGeom prst="roundRect">
            <a:avLst>
              <a:gd name="adj" fmla="val 2647"/>
            </a:avLst>
          </a:prstGeom>
          <a:solidFill>
            <a:srgbClr val="2024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MOYENS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09560" y="376732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en petit groupe avec l'IT. Chaque administrateur repart avec le paramétrage de SA filiale réellement en place et vérifié.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FORMATION 4/4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— demandeurs &amp; managers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024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· visio · plusieurs créneaux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0" y="411480"/>
            <a:ext cx="1554480" cy="155448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795528"/>
            <a:ext cx="786384" cy="7863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48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EE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correctement du premier coup : une demande bien saisie, c'est un dispatching qui peut regrouper.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767328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réservation : trajet, passagers, aller simple ou aller-retour.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de flexibilité : accepter ±30 min augmente les chances de mutualisation.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sa demande, recevoir les notifications, évaluer la course.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: valider ou refuser les demandes de son équipe.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3246120"/>
            <a:ext cx="4005072" cy="3108960"/>
          </a:xfrm>
          <a:prstGeom prst="roundRect">
            <a:avLst>
              <a:gd name="adj" fmla="val 2647"/>
            </a:avLst>
          </a:prstGeom>
          <a:solidFill>
            <a:srgbClr val="20242E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MOYENS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09560" y="376732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courte en visioconférence, rejouée sur plusieurs créneaux pour toucher tout le monde. Guide pas-à-pas illustré diffusé à tous ; K-BOT répond aux questions courantes ensuite.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 · J16–J20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: accompagner, mesurer, corriger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au poste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08483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d'accompagnement reste auprès de l'équipe dispatch ; les référents tiennent une permanence quotidienne d'une heure dans chaque filiale.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03580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712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Rattrapage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21868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 rattrapage pour les absents de S3 — l'objectif « 100 % formés » se vérifie nominativement, pas au ressenti.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6966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050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35254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K-BOT en première ligne pour les questions d'usage ; les questions récurrentes alimentent une FAQ vivante.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184648"/>
            <a:ext cx="457200" cy="457200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30352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138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lancement (J20)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48640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avec les sponsors : indicateurs de première quinzaine, frictions restantes, plan d'ajustement. Passage en régime nominal.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194560"/>
            <a:ext cx="5120640" cy="5120640"/>
          </a:xfrm>
          <a:prstGeom prst="ellipse">
            <a:avLst/>
          </a:prstGeom>
          <a:solidFill>
            <a:srgbClr val="3C4454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RÉUSSITE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lancement est réussi si, à J+30 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A30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populations formées, vérifiées nominativement (émargement)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A304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2938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58200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réservations créées dans l'outil — plus de circuits parallèles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A30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9242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337413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affectations passent par le centre de dispatching, suggestions consultées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2461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A3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39242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établie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58200" y="337413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occupation, km à vide et coût au passager-km mesurés : la référence des gains futurs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: </a:t>
            </a:r>
            <a:pPr indent="0" marL="0">
              <a:buNone/>
            </a:pPr>
            <a:r>
              <a:rPr lang="en-US" sz="13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lancement hebdomadaire pendant le mois (chef de projet, référents, un sponsor), puis revue mensuelle des indicateurs — c'est la simulation de mutualisation qui chiffrera les gains réels.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K-Express · Plan de lancement · 4 semaines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2026-08-13T21:12:35Z</dcterms:created>
  <dcterms:modified xsi:type="dcterms:W3CDTF">2026-08-13T21:12:35Z</dcterms:modified>
</cp:coreProperties>
</file>